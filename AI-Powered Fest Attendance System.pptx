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Plus Jakarta Sans ExtraBold"/>
      <p:bold r:id="rId20"/>
      <p:boldItalic r:id="rId21"/>
    </p:embeddedFont>
    <p:embeddedFont>
      <p:font typeface="Plus Jakarta Sans"/>
      <p:regular r:id="rId22"/>
      <p:bold r:id="rId23"/>
      <p:italic r:id="rId24"/>
      <p:boldItalic r:id="rId25"/>
    </p:embeddedFont>
    <p:embeddedFont>
      <p:font typeface="Plus Jakarta Sans Medium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ExtraBold-bold.fntdata"/><Relationship Id="rId22" Type="http://schemas.openxmlformats.org/officeDocument/2006/relationships/font" Target="fonts/PlusJakartaSans-regular.fntdata"/><Relationship Id="rId21" Type="http://schemas.openxmlformats.org/officeDocument/2006/relationships/font" Target="fonts/PlusJakartaSansExtraBold-boldItalic.fntdata"/><Relationship Id="rId24" Type="http://schemas.openxmlformats.org/officeDocument/2006/relationships/font" Target="fonts/PlusJakartaSans-italic.fntdata"/><Relationship Id="rId23" Type="http://schemas.openxmlformats.org/officeDocument/2006/relationships/font" Target="fonts/PlusJakarta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usJakartaSansMedium-regular.fntdata"/><Relationship Id="rId25" Type="http://schemas.openxmlformats.org/officeDocument/2006/relationships/font" Target="fonts/PlusJakartaSans-boldItalic.fntdata"/><Relationship Id="rId28" Type="http://schemas.openxmlformats.org/officeDocument/2006/relationships/font" Target="fonts/PlusJakartaSansMedium-italic.fntdata"/><Relationship Id="rId27" Type="http://schemas.openxmlformats.org/officeDocument/2006/relationships/font" Target="fonts/PlusJakartaSans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usJakartaSansMedium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h10124e85f19a807d_1_1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h10124e85f19a807d_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h10124e85f19a807d_1_3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h10124e85f19a807d_1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h10124e85f19a807d_1_5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h10124e85f19a807d_1_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409fca74f3a_10_0)">
  <p:cSld name="Generated (g409fca74f3a_10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9" Type="http://schemas.openxmlformats.org/officeDocument/2006/relationships/image" Target="../media/image11.png"/><Relationship Id="rId5" Type="http://schemas.openxmlformats.org/officeDocument/2006/relationships/image" Target="../media/image15.png"/><Relationship Id="rId6" Type="http://schemas.openxmlformats.org/officeDocument/2006/relationships/image" Target="../media/image19.png"/><Relationship Id="rId7" Type="http://schemas.openxmlformats.org/officeDocument/2006/relationships/image" Target="../media/image14.png"/><Relationship Id="rId8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0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29.png"/><Relationship Id="rId9" Type="http://schemas.openxmlformats.org/officeDocument/2006/relationships/image" Target="../media/image20.png"/><Relationship Id="rId5" Type="http://schemas.openxmlformats.org/officeDocument/2006/relationships/image" Target="../media/image27.png"/><Relationship Id="rId6" Type="http://schemas.openxmlformats.org/officeDocument/2006/relationships/image" Target="../media/image23.png"/><Relationship Id="rId7" Type="http://schemas.openxmlformats.org/officeDocument/2006/relationships/image" Target="../media/image16.png"/><Relationship Id="rId8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Relationship Id="rId4" Type="http://schemas.openxmlformats.org/officeDocument/2006/relationships/image" Target="../media/image25.png"/><Relationship Id="rId5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3.png"/><Relationship Id="rId4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6.png"/><Relationship Id="rId4" Type="http://schemas.openxmlformats.org/officeDocument/2006/relationships/image" Target="../media/image41.png"/><Relationship Id="rId5" Type="http://schemas.openxmlformats.org/officeDocument/2006/relationships/image" Target="../media/image3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0.png"/><Relationship Id="rId4" Type="http://schemas.openxmlformats.org/officeDocument/2006/relationships/image" Target="../media/image38.png"/><Relationship Id="rId5" Type="http://schemas.openxmlformats.org/officeDocument/2006/relationships/image" Target="../media/image34.png"/><Relationship Id="rId6" Type="http://schemas.openxmlformats.org/officeDocument/2006/relationships/image" Target="../media/image42.png"/><Relationship Id="rId7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/>
          <p:nvPr/>
        </p:nvSpPr>
        <p:spPr>
          <a:xfrm>
            <a:off x="6858000" y="0"/>
            <a:ext cx="533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6" name="Google Shape;8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0" y="0"/>
            <a:ext cx="1724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4"/>
          <p:cNvSpPr txBox="1"/>
          <p:nvPr/>
        </p:nvSpPr>
        <p:spPr>
          <a:xfrm>
            <a:off x="762000" y="762000"/>
            <a:ext cx="6667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SMART EVENT INFRASTRUCTURE</a:t>
            </a:r>
            <a:endParaRPr/>
          </a:p>
        </p:txBody>
      </p:sp>
      <p:sp>
        <p:nvSpPr>
          <p:cNvPr id="88" name="Google Shape;88;p14"/>
          <p:cNvSpPr txBox="1"/>
          <p:nvPr/>
        </p:nvSpPr>
        <p:spPr>
          <a:xfrm>
            <a:off x="762000" y="1190625"/>
            <a:ext cx="5700712" cy="2681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AI-Powered Fest Attendance &amp; Crowd Management</a:t>
            </a:r>
            <a:endParaRPr/>
          </a:p>
        </p:txBody>
      </p:sp>
      <p:sp>
        <p:nvSpPr>
          <p:cNvPr id="89" name="Google Shape;89;p14"/>
          <p:cNvSpPr txBox="1"/>
          <p:nvPr/>
        </p:nvSpPr>
        <p:spPr>
          <a:xfrm>
            <a:off x="762000" y="4177307"/>
            <a:ext cx="48577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Know who is there. Know where they are. Act before it becomes an emergency.</a:t>
            </a:r>
            <a:endParaRPr/>
          </a:p>
        </p:txBody>
      </p:sp>
      <p:sp>
        <p:nvSpPr>
          <p:cNvPr id="90" name="Google Shape;90;p14"/>
          <p:cNvSpPr txBox="1"/>
          <p:nvPr/>
        </p:nvSpPr>
        <p:spPr>
          <a:xfrm>
            <a:off x="1638300" y="5834750"/>
            <a:ext cx="10608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3475583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4361408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0" y="5247233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 txBox="1"/>
          <p:nvPr/>
        </p:nvSpPr>
        <p:spPr>
          <a:xfrm>
            <a:off x="6096000" y="1063079"/>
            <a:ext cx="6096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43F5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CHALLENGE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6096000" y="1415504"/>
            <a:ext cx="5860732" cy="1645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Current methods face critical safety blind spots.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6591300" y="3442245"/>
            <a:ext cx="4191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Slow manual entry.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6591300" y="3804195"/>
            <a:ext cx="4191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Creates massive queues and bottlenecks.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6657975" y="4328070"/>
            <a:ext cx="4286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Unknown crowd size.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657975" y="4690020"/>
            <a:ext cx="42862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Organizers lack real-time attendance data.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591300" y="5213895"/>
            <a:ext cx="379809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Reactive security.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591300" y="5575845"/>
            <a:ext cx="37980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Alerts arrive only after incidents occur.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16"/>
          <p:cNvGrpSpPr/>
          <p:nvPr/>
        </p:nvGrpSpPr>
        <p:grpSpPr>
          <a:xfrm>
            <a:off x="571500" y="457200"/>
            <a:ext cx="6477000" cy="1143150"/>
            <a:chOff x="571500" y="457200"/>
            <a:chExt cx="6477000" cy="1143150"/>
          </a:xfrm>
        </p:grpSpPr>
        <p:sp>
          <p:nvSpPr>
            <p:cNvPr id="112" name="Google Shape;112;p16"/>
            <p:cNvSpPr txBox="1"/>
            <p:nvPr/>
          </p:nvSpPr>
          <p:spPr>
            <a:xfrm>
              <a:off x="571500" y="457200"/>
              <a:ext cx="6477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43F5E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PROBLEM STATEMENT</a:t>
              </a:r>
              <a:endParaRPr b="1" sz="1200">
                <a:solidFill>
                  <a:srgbClr val="F43F5E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13" name="Google Shape;113;p16"/>
            <p:cNvSpPr txBox="1"/>
            <p:nvPr/>
          </p:nvSpPr>
          <p:spPr>
            <a:xfrm>
              <a:off x="571500" y="742950"/>
              <a:ext cx="6477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8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Managing thousands of festival attendees creates severe operational bottlenecks.</a:t>
              </a:r>
              <a:endParaRPr b="1" sz="248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114" name="Google Shape;114;p16"/>
          <p:cNvGrpSpPr/>
          <p:nvPr/>
        </p:nvGrpSpPr>
        <p:grpSpPr>
          <a:xfrm>
            <a:off x="571500" y="1762125"/>
            <a:ext cx="7068075" cy="6896250"/>
            <a:chOff x="571500" y="1762125"/>
            <a:chExt cx="7068075" cy="6896250"/>
          </a:xfrm>
        </p:grpSpPr>
        <p:grpSp>
          <p:nvGrpSpPr>
            <p:cNvPr id="115" name="Google Shape;115;p16"/>
            <p:cNvGrpSpPr/>
            <p:nvPr/>
          </p:nvGrpSpPr>
          <p:grpSpPr>
            <a:xfrm>
              <a:off x="571500" y="1762125"/>
              <a:ext cx="3048000" cy="2238300"/>
              <a:chOff x="0" y="0"/>
              <a:chExt cx="3048000" cy="2238300"/>
            </a:xfrm>
          </p:grpSpPr>
          <p:sp>
            <p:nvSpPr>
              <p:cNvPr id="116" name="Google Shape;116;p16"/>
              <p:cNvSpPr/>
              <p:nvPr/>
            </p:nvSpPr>
            <p:spPr>
              <a:xfrm>
                <a:off x="0" y="0"/>
                <a:ext cx="3048000" cy="2238300"/>
              </a:xfrm>
              <a:prstGeom prst="roundRect">
                <a:avLst>
                  <a:gd fmla="val 680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16"/>
              <p:cNvSpPr/>
              <p:nvPr/>
            </p:nvSpPr>
            <p:spPr>
              <a:xfrm>
                <a:off x="228600" y="228600"/>
                <a:ext cx="457200" cy="457200"/>
              </a:xfrm>
              <a:prstGeom prst="roundRect">
                <a:avLst>
                  <a:gd fmla="val 25000" name="adj"/>
                </a:avLst>
              </a:prstGeom>
              <a:solidFill>
                <a:srgbClr val="FFE4E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16"/>
              <p:cNvSpPr/>
              <p:nvPr/>
            </p:nvSpPr>
            <p:spPr>
              <a:xfrm>
                <a:off x="190500" y="133350"/>
                <a:ext cx="266700" cy="266700"/>
              </a:xfrm>
              <a:custGeom>
                <a:rect b="b" l="l" r="r" t="t"/>
                <a:pathLst>
                  <a:path extrusionOk="0" h="120000" w="120000">
                    <a:moveTo>
                      <a:pt x="60000" y="51429"/>
                    </a:moveTo>
                    <a:lnTo>
                      <a:pt x="60000" y="85714"/>
                    </a:lnTo>
                    <a:moveTo>
                      <a:pt x="60000" y="120000"/>
                    </a:moveTo>
                    <a:lnTo>
                      <a:pt x="60043" y="120000"/>
                    </a:lnTo>
                    <a:moveTo>
                      <a:pt x="17143" y="102857"/>
                    </a:moveTo>
                    <a:lnTo>
                      <a:pt x="102857" y="102857"/>
                    </a:lnTo>
                    <a:cubicBezTo>
                      <a:pt x="112286" y="102857"/>
                      <a:pt x="120000" y="95143"/>
                      <a:pt x="120000" y="85714"/>
                    </a:cubicBezTo>
                    <a:lnTo>
                      <a:pt x="120000" y="17143"/>
                    </a:lnTo>
                    <a:cubicBezTo>
                      <a:pt x="120000" y="7714"/>
                      <a:pt x="112286" y="0"/>
                      <a:pt x="102857" y="0"/>
                    </a:cubicBezTo>
                    <a:lnTo>
                      <a:pt x="17143" y="0"/>
                    </a:lnTo>
                    <a:cubicBezTo>
                      <a:pt x="7714" y="0"/>
                      <a:pt x="0" y="7714"/>
                      <a:pt x="0" y="17143"/>
                    </a:cubicBezTo>
                    <a:lnTo>
                      <a:pt x="0" y="85714"/>
                    </a:lnTo>
                    <a:cubicBezTo>
                      <a:pt x="0" y="95143"/>
                      <a:pt x="7714" y="102857"/>
                      <a:pt x="17143" y="10285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23825">
                <a:solidFill>
                  <a:srgbClr val="F43F5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16"/>
              <p:cNvSpPr txBox="1"/>
              <p:nvPr/>
            </p:nvSpPr>
            <p:spPr>
              <a:xfrm>
                <a:off x="228600" y="838200"/>
                <a:ext cx="2590800" cy="11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0F172A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Manual Bottlenecks</a:t>
                </a:r>
                <a:endParaRPr b="1" sz="16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150">
                    <a:solidFill>
                      <a:srgbClr val="475569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Traditional pen-and-paper or basic check-ins are extremely time-consuming, driving massive gate queues.</a:t>
                </a:r>
                <a:endParaRPr b="0" sz="115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120" name="Google Shape;120;p16"/>
            <p:cNvGrpSpPr/>
            <p:nvPr/>
          </p:nvGrpSpPr>
          <p:grpSpPr>
            <a:xfrm>
              <a:off x="3810000" y="1762125"/>
              <a:ext cx="3048000" cy="2238300"/>
              <a:chOff x="0" y="0"/>
              <a:chExt cx="3048000" cy="2238300"/>
            </a:xfrm>
          </p:grpSpPr>
          <p:sp>
            <p:nvSpPr>
              <p:cNvPr id="121" name="Google Shape;121;p16"/>
              <p:cNvSpPr/>
              <p:nvPr/>
            </p:nvSpPr>
            <p:spPr>
              <a:xfrm>
                <a:off x="0" y="0"/>
                <a:ext cx="3048000" cy="2238300"/>
              </a:xfrm>
              <a:prstGeom prst="roundRect">
                <a:avLst>
                  <a:gd fmla="val 680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16"/>
              <p:cNvSpPr/>
              <p:nvPr/>
            </p:nvSpPr>
            <p:spPr>
              <a:xfrm>
                <a:off x="228600" y="228600"/>
                <a:ext cx="457200" cy="457200"/>
              </a:xfrm>
              <a:prstGeom prst="roundRect">
                <a:avLst>
                  <a:gd fmla="val 25000" name="adj"/>
                </a:avLst>
              </a:prstGeom>
              <a:solidFill>
                <a:srgbClr val="FEF3C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16"/>
              <p:cNvSpPr/>
              <p:nvPr/>
            </p:nvSpPr>
            <p:spPr>
              <a:xfrm>
                <a:off x="329279" y="330203"/>
                <a:ext cx="179700" cy="155700"/>
              </a:xfrm>
              <a:custGeom>
                <a:rect b="b" l="l" r="r" t="t"/>
                <a:pathLst>
                  <a:path extrusionOk="0" h="120000" w="120000">
                    <a:moveTo>
                      <a:pt x="60000" y="46529"/>
                    </a:moveTo>
                    <a:lnTo>
                      <a:pt x="60000" y="61223"/>
                    </a:lnTo>
                    <a:moveTo>
                      <a:pt x="60000" y="90612"/>
                    </a:moveTo>
                    <a:lnTo>
                      <a:pt x="60064" y="90612"/>
                    </a:lnTo>
                    <a:moveTo>
                      <a:pt x="15919" y="120000"/>
                    </a:moveTo>
                    <a:lnTo>
                      <a:pt x="104081" y="120000"/>
                    </a:lnTo>
                    <a:cubicBezTo>
                      <a:pt x="113879" y="120000"/>
                      <a:pt x="120000" y="107752"/>
                      <a:pt x="115101" y="97959"/>
                    </a:cubicBezTo>
                    <a:lnTo>
                      <a:pt x="71020" y="9794"/>
                    </a:lnTo>
                    <a:cubicBezTo>
                      <a:pt x="66121" y="0"/>
                      <a:pt x="53879" y="0"/>
                      <a:pt x="48980" y="9794"/>
                    </a:cubicBezTo>
                    <a:lnTo>
                      <a:pt x="4899" y="97959"/>
                    </a:lnTo>
                    <a:cubicBezTo>
                      <a:pt x="0" y="107752"/>
                      <a:pt x="6121" y="120000"/>
                      <a:pt x="15919" y="12000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23825">
                <a:solidFill>
                  <a:srgbClr val="D9770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16"/>
              <p:cNvSpPr txBox="1"/>
              <p:nvPr/>
            </p:nvSpPr>
            <p:spPr>
              <a:xfrm>
                <a:off x="228600" y="838200"/>
                <a:ext cx="2590800" cy="11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0F172A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Unauthorized Entry</a:t>
                </a:r>
                <a:endParaRPr b="1" sz="16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150">
                    <a:solidFill>
                      <a:srgbClr val="475569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Overcrowding and unverified credentials allow fake IDs and untracked guests to breach security zones.</a:t>
                </a:r>
                <a:endParaRPr b="0" sz="115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125" name="Google Shape;125;p16"/>
            <p:cNvGrpSpPr/>
            <p:nvPr/>
          </p:nvGrpSpPr>
          <p:grpSpPr>
            <a:xfrm>
              <a:off x="571500" y="4191000"/>
              <a:ext cx="3048000" cy="4467375"/>
              <a:chOff x="0" y="0"/>
              <a:chExt cx="3048000" cy="4467375"/>
            </a:xfrm>
          </p:grpSpPr>
          <p:sp>
            <p:nvSpPr>
              <p:cNvPr id="126" name="Google Shape;126;p16"/>
              <p:cNvSpPr/>
              <p:nvPr/>
            </p:nvSpPr>
            <p:spPr>
              <a:xfrm>
                <a:off x="0" y="0"/>
                <a:ext cx="3048000" cy="2238300"/>
              </a:xfrm>
              <a:prstGeom prst="roundRect">
                <a:avLst>
                  <a:gd fmla="val 680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16"/>
              <p:cNvSpPr/>
              <p:nvPr/>
            </p:nvSpPr>
            <p:spPr>
              <a:xfrm>
                <a:off x="228600" y="228600"/>
                <a:ext cx="457200" cy="457200"/>
              </a:xfrm>
              <a:prstGeom prst="roundRect">
                <a:avLst>
                  <a:gd fmla="val 25000" name="adj"/>
                </a:avLst>
              </a:prstGeom>
              <a:solidFill>
                <a:srgbClr val="E0F2F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16"/>
              <p:cNvSpPr/>
              <p:nvPr/>
            </p:nvSpPr>
            <p:spPr>
              <a:xfrm>
                <a:off x="342900" y="4295775"/>
                <a:ext cx="152400" cy="171600"/>
              </a:xfrm>
              <a:custGeom>
                <a:rect b="b" l="l" r="r" t="t"/>
                <a:pathLst>
                  <a:path extrusionOk="0" h="120000" w="120000">
                    <a:moveTo>
                      <a:pt x="67500" y="46667"/>
                    </a:moveTo>
                    <a:lnTo>
                      <a:pt x="67500" y="0"/>
                    </a:lnTo>
                    <a:lnTo>
                      <a:pt x="0" y="73333"/>
                    </a:lnTo>
                    <a:lnTo>
                      <a:pt x="52500" y="73333"/>
                    </a:lnTo>
                    <a:lnTo>
                      <a:pt x="52500" y="120000"/>
                    </a:lnTo>
                    <a:lnTo>
                      <a:pt x="120000" y="46667"/>
                    </a:lnTo>
                    <a:lnTo>
                      <a:pt x="67500" y="46667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23825">
                <a:solidFill>
                  <a:srgbClr val="0284C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16"/>
              <p:cNvSpPr txBox="1"/>
              <p:nvPr/>
            </p:nvSpPr>
            <p:spPr>
              <a:xfrm>
                <a:off x="228600" y="838200"/>
                <a:ext cx="2590800" cy="11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0F172A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Sudden Crowd Surges</a:t>
                </a:r>
                <a:endParaRPr b="1" sz="16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150">
                    <a:solidFill>
                      <a:srgbClr val="475569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Unpredictable attendee movements and panic surges leave organizers blind without real-time data.</a:t>
                </a:r>
                <a:endParaRPr b="0" sz="115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130" name="Google Shape;130;p16"/>
            <p:cNvGrpSpPr/>
            <p:nvPr/>
          </p:nvGrpSpPr>
          <p:grpSpPr>
            <a:xfrm>
              <a:off x="3810000" y="4191000"/>
              <a:ext cx="3829575" cy="4467113"/>
              <a:chOff x="0" y="0"/>
              <a:chExt cx="3829575" cy="4467113"/>
            </a:xfrm>
          </p:grpSpPr>
          <p:sp>
            <p:nvSpPr>
              <p:cNvPr id="131" name="Google Shape;131;p16"/>
              <p:cNvSpPr/>
              <p:nvPr/>
            </p:nvSpPr>
            <p:spPr>
              <a:xfrm>
                <a:off x="0" y="0"/>
                <a:ext cx="3048000" cy="2238300"/>
              </a:xfrm>
              <a:prstGeom prst="roundRect">
                <a:avLst>
                  <a:gd fmla="val 6808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16"/>
              <p:cNvSpPr/>
              <p:nvPr/>
            </p:nvSpPr>
            <p:spPr>
              <a:xfrm>
                <a:off x="228600" y="228600"/>
                <a:ext cx="457200" cy="457200"/>
              </a:xfrm>
              <a:prstGeom prst="roundRect">
                <a:avLst>
                  <a:gd fmla="val 25000" name="adj"/>
                </a:avLst>
              </a:prstGeom>
              <a:solidFill>
                <a:srgbClr val="F3E8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16"/>
              <p:cNvSpPr/>
              <p:nvPr/>
            </p:nvSpPr>
            <p:spPr>
              <a:xfrm>
                <a:off x="3686175" y="4329113"/>
                <a:ext cx="143400" cy="138000"/>
              </a:xfrm>
              <a:custGeom>
                <a:rect b="b" l="l" r="r" t="t"/>
                <a:pathLst>
                  <a:path extrusionOk="0" h="120000" w="120000">
                    <a:moveTo>
                      <a:pt x="47802" y="120000"/>
                    </a:moveTo>
                    <a:lnTo>
                      <a:pt x="0" y="70345"/>
                    </a:lnTo>
                    <a:moveTo>
                      <a:pt x="15934" y="28966"/>
                    </a:moveTo>
                    <a:cubicBezTo>
                      <a:pt x="3313" y="6259"/>
                      <a:pt x="-22416" y="-4812"/>
                      <a:pt x="-46797" y="1974"/>
                    </a:cubicBezTo>
                    <a:cubicBezTo>
                      <a:pt x="-71179" y="8760"/>
                      <a:pt x="-88132" y="31711"/>
                      <a:pt x="-88132" y="57931"/>
                    </a:cubicBezTo>
                    <a:cubicBezTo>
                      <a:pt x="-88132" y="84151"/>
                      <a:pt x="-71179" y="107102"/>
                      <a:pt x="-46797" y="113888"/>
                    </a:cubicBezTo>
                    <a:cubicBezTo>
                      <a:pt x="-22416" y="120675"/>
                      <a:pt x="3313" y="109604"/>
                      <a:pt x="15934" y="86897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cap="rnd" cmpd="sng" w="23825">
                <a:solidFill>
                  <a:srgbClr val="9333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16"/>
              <p:cNvSpPr txBox="1"/>
              <p:nvPr/>
            </p:nvSpPr>
            <p:spPr>
              <a:xfrm>
                <a:off x="228600" y="838200"/>
                <a:ext cx="2590800" cy="119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0F172A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Missing Persons</a:t>
                </a:r>
                <a:endParaRPr b="1" sz="16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150">
                    <a:solidFill>
                      <a:srgbClr val="475569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Locating lost students, staff, or guests in massive crowds becomes near impossible without spatial tracking.</a:t>
                </a:r>
                <a:endParaRPr b="0" sz="115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</p:grpSp>
      <p:grpSp>
        <p:nvGrpSpPr>
          <p:cNvPr id="135" name="Google Shape;135;p16"/>
          <p:cNvGrpSpPr/>
          <p:nvPr/>
        </p:nvGrpSpPr>
        <p:grpSpPr>
          <a:xfrm>
            <a:off x="7239000" y="381000"/>
            <a:ext cx="4381500" cy="6096000"/>
            <a:chOff x="7239000" y="381000"/>
            <a:chExt cx="4381500" cy="6096000"/>
          </a:xfrm>
        </p:grpSpPr>
        <p:pic>
          <p:nvPicPr>
            <p:cNvPr descr="High-angle overhead view of a massive, dense crowd of festival attendees gathered tightly at an outdoor event venue, intense atmosphere, realistic photography, subtle cinematic lighting, clean composition." id="136" name="Google Shape;136;p16"/>
            <p:cNvPicPr preferRelativeResize="0"/>
            <p:nvPr/>
          </p:nvPicPr>
          <p:blipFill rotWithShape="1">
            <a:blip r:embed="rId4">
              <a:alphaModFix/>
            </a:blip>
            <a:srcRect b="0" l="2080" r="2089" t="0"/>
            <a:stretch/>
          </p:blipFill>
          <p:spPr>
            <a:xfrm>
              <a:off x="7239000" y="381000"/>
              <a:ext cx="4381500" cy="6096000"/>
            </a:xfrm>
            <a:prstGeom prst="roundRect">
              <a:avLst>
                <a:gd fmla="val 4347" name="adj"/>
              </a:avLst>
            </a:prstGeom>
            <a:noFill/>
            <a:ln>
              <a:noFill/>
            </a:ln>
          </p:spPr>
        </p:pic>
        <p:sp>
          <p:nvSpPr>
            <p:cNvPr id="137" name="Google Shape;137;p16"/>
            <p:cNvSpPr/>
            <p:nvPr/>
          </p:nvSpPr>
          <p:spPr>
            <a:xfrm>
              <a:off x="7239000" y="381000"/>
              <a:ext cx="4381500" cy="6096000"/>
            </a:xfrm>
            <a:prstGeom prst="roundRect">
              <a:avLst>
                <a:gd fmla="val 4347" name="adj"/>
              </a:avLst>
            </a:prstGeom>
            <a:solidFill>
              <a:srgbClr val="000000">
                <a:alpha val="0"/>
              </a:srgbClr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 txBox="1"/>
          <p:nvPr/>
        </p:nvSpPr>
        <p:spPr>
          <a:xfrm>
            <a:off x="7677150" y="1085850"/>
            <a:ext cx="39052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Secondary biometrics catch suspicious ID usage.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609600" y="762000"/>
            <a:ext cx="636984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MULTI-LAYER SECURITY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609600" y="1076325"/>
            <a:ext cx="668833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Identity Verification Flow</a:t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1706760" y="4114800"/>
            <a:ext cx="877818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6" name="Google Shape;14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5880" y="3457575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62611" y="3457575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19342" y="3457575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6073" y="3457575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24955" y="3648075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53111" y="36480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980860" y="364807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860524" y="4295775"/>
            <a:ext cx="250031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QR Scan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920055" y="4610100"/>
            <a:ext cx="2381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Initial gate authentication.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3517255" y="4295775"/>
            <a:ext cx="250031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DB Verification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3576786" y="4610100"/>
            <a:ext cx="2381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Cross-check registration.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6173985" y="4295775"/>
            <a:ext cx="250031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AI Face Match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6233517" y="4610100"/>
            <a:ext cx="2381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Prevents ID sharing.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8830716" y="4295775"/>
            <a:ext cx="250031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 Entry Granted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8890248" y="4610100"/>
            <a:ext cx="2381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Automated logging.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5" name="Google Shape;16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5600" y="0"/>
            <a:ext cx="54864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3003202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3841402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4679602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7712" y="3155602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3425" y="4832002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 txBox="1"/>
          <p:nvPr/>
        </p:nvSpPr>
        <p:spPr>
          <a:xfrm>
            <a:off x="609600" y="1644997"/>
            <a:ext cx="6858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B82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WIDER AREA SURVEILLANCE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609600" y="1997422"/>
            <a:ext cx="72009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CCTV + Drone Fusion AI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1333500" y="3007965"/>
            <a:ext cx="360759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Fixed CCTV Tracking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1333500" y="3312765"/>
            <a:ext cx="36075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Continuous density counts at gates.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1333500" y="3846165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Drone Aerial Intelligence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1333500" y="4150965"/>
            <a:ext cx="4191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Monitoring wide outdoor festival grounds.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1333500" y="4684365"/>
            <a:ext cx="377428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Unusual Movement Alerts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1333500" y="4989165"/>
            <a:ext cx="377428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Detects sudden crowd accumulation.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571500" y="381000"/>
            <a:ext cx="647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B82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PROPOSED SOLUTION</a:t>
            </a:r>
            <a:endParaRPr b="1" sz="1200">
              <a:solidFill>
                <a:srgbClr val="3B82F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571500" y="666750"/>
            <a:ext cx="6477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75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Centralized AI Platform for Total Event Safety &amp; Control</a:t>
            </a:r>
            <a:endParaRPr b="1" sz="2775">
              <a:solidFill>
                <a:srgbClr val="1E293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186" name="Google Shape;186;p19"/>
          <p:cNvGrpSpPr/>
          <p:nvPr/>
        </p:nvGrpSpPr>
        <p:grpSpPr>
          <a:xfrm>
            <a:off x="571500" y="1714500"/>
            <a:ext cx="2952900" cy="2095500"/>
            <a:chOff x="0" y="0"/>
            <a:chExt cx="2952900" cy="2095500"/>
          </a:xfrm>
        </p:grpSpPr>
        <p:sp>
          <p:nvSpPr>
            <p:cNvPr id="187" name="Google Shape;187;p19"/>
            <p:cNvSpPr/>
            <p:nvPr/>
          </p:nvSpPr>
          <p:spPr>
            <a:xfrm>
              <a:off x="0" y="0"/>
              <a:ext cx="2952900" cy="20955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9"/>
            <p:cNvSpPr/>
            <p:nvPr/>
          </p:nvSpPr>
          <p:spPr>
            <a:xfrm>
              <a:off x="228600" y="228600"/>
              <a:ext cx="457200" cy="457200"/>
            </a:xfrm>
            <a:prstGeom prst="roundRect">
              <a:avLst>
                <a:gd fmla="val 25000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9"/>
            <p:cNvSpPr/>
            <p:nvPr/>
          </p:nvSpPr>
          <p:spPr>
            <a:xfrm>
              <a:off x="457200" y="381000"/>
              <a:ext cx="76200" cy="114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  <a:lnTo>
                    <a:pt x="120000" y="120000"/>
                  </a:lnTo>
                  <a:lnTo>
                    <a:pt x="0" y="120000"/>
                  </a:lnTo>
                  <a:lnTo>
                    <a:pt x="0" y="20000"/>
                  </a:lnTo>
                  <a:close/>
                  <a:moveTo>
                    <a:pt x="0" y="40000"/>
                  </a:moveTo>
                  <a:lnTo>
                    <a:pt x="120000" y="40000"/>
                  </a:lnTo>
                  <a:moveTo>
                    <a:pt x="0" y="80000"/>
                  </a:moveTo>
                  <a:lnTo>
                    <a:pt x="120000" y="80000"/>
                  </a:lnTo>
                  <a:moveTo>
                    <a:pt x="0" y="120000"/>
                  </a:moveTo>
                  <a:lnTo>
                    <a:pt x="6000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9"/>
            <p:cNvSpPr txBox="1"/>
            <p:nvPr/>
          </p:nvSpPr>
          <p:spPr>
            <a:xfrm>
              <a:off x="228600" y="838200"/>
              <a:ext cx="24957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E293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Automated Attendance</a:t>
              </a:r>
              <a:endParaRPr b="1" sz="1600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Instantly records attendee entries via QR and secondary biometrics, eliminating gate bottlenecks.</a:t>
              </a:r>
              <a:endParaRPr b="0" sz="11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191" name="Google Shape;191;p19"/>
          <p:cNvGrpSpPr/>
          <p:nvPr/>
        </p:nvGrpSpPr>
        <p:grpSpPr>
          <a:xfrm>
            <a:off x="3714750" y="1714500"/>
            <a:ext cx="2952900" cy="2095500"/>
            <a:chOff x="0" y="0"/>
            <a:chExt cx="2952900" cy="2095500"/>
          </a:xfrm>
        </p:grpSpPr>
        <p:sp>
          <p:nvSpPr>
            <p:cNvPr id="192" name="Google Shape;192;p19"/>
            <p:cNvSpPr/>
            <p:nvPr/>
          </p:nvSpPr>
          <p:spPr>
            <a:xfrm>
              <a:off x="0" y="0"/>
              <a:ext cx="2952900" cy="20955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9"/>
            <p:cNvSpPr/>
            <p:nvPr/>
          </p:nvSpPr>
          <p:spPr>
            <a:xfrm>
              <a:off x="228600" y="228600"/>
              <a:ext cx="457200" cy="457200"/>
            </a:xfrm>
            <a:prstGeom prst="roundRect">
              <a:avLst>
                <a:gd fmla="val 25000" name="adj"/>
              </a:avLst>
            </a:prstGeom>
            <a:solidFill>
              <a:srgbClr val="F0FD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9"/>
            <p:cNvSpPr/>
            <p:nvPr/>
          </p:nvSpPr>
          <p:spPr>
            <a:xfrm>
              <a:off x="390525" y="266700"/>
              <a:ext cx="257100" cy="238200"/>
            </a:xfrm>
            <a:custGeom>
              <a:rect b="b" l="l" r="r" t="t"/>
              <a:pathLst>
                <a:path extrusionOk="0" h="120000" w="120000">
                  <a:moveTo>
                    <a:pt x="31111" y="48000"/>
                  </a:moveTo>
                  <a:cubicBezTo>
                    <a:pt x="31111" y="21490"/>
                    <a:pt x="51009" y="0"/>
                    <a:pt x="75555" y="0"/>
                  </a:cubicBezTo>
                  <a:cubicBezTo>
                    <a:pt x="100101" y="0"/>
                    <a:pt x="120000" y="21490"/>
                    <a:pt x="120000" y="48000"/>
                  </a:cubicBezTo>
                  <a:cubicBezTo>
                    <a:pt x="120000" y="74510"/>
                    <a:pt x="100102" y="96000"/>
                    <a:pt x="75556" y="96000"/>
                  </a:cubicBezTo>
                  <a:close/>
                  <a:moveTo>
                    <a:pt x="22222" y="120000"/>
                  </a:moveTo>
                  <a:lnTo>
                    <a:pt x="0" y="96000"/>
                  </a:lnTo>
                  <a:lnTo>
                    <a:pt x="6267" y="89232"/>
                  </a:lnTo>
                  <a:lnTo>
                    <a:pt x="22222" y="106416"/>
                  </a:lnTo>
                  <a:lnTo>
                    <a:pt x="55956" y="69984"/>
                  </a:lnTo>
                  <a:lnTo>
                    <a:pt x="62222" y="76800"/>
                  </a:lnTo>
                  <a:lnTo>
                    <a:pt x="22222" y="12000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9"/>
            <p:cNvSpPr txBox="1"/>
            <p:nvPr/>
          </p:nvSpPr>
          <p:spPr>
            <a:xfrm>
              <a:off x="228600" y="838200"/>
              <a:ext cx="24957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E293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Identity Verification</a:t>
              </a:r>
              <a:endParaRPr b="1" sz="1600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AI-driven cross-validation ensures seamless credential check-ins and prevents unauthorized access.</a:t>
              </a:r>
              <a:endParaRPr b="0" sz="11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196" name="Google Shape;196;p19"/>
          <p:cNvGrpSpPr/>
          <p:nvPr/>
        </p:nvGrpSpPr>
        <p:grpSpPr>
          <a:xfrm>
            <a:off x="571500" y="4000500"/>
            <a:ext cx="2952900" cy="2095500"/>
            <a:chOff x="0" y="0"/>
            <a:chExt cx="2952900" cy="2095500"/>
          </a:xfrm>
        </p:grpSpPr>
        <p:sp>
          <p:nvSpPr>
            <p:cNvPr id="197" name="Google Shape;197;p19"/>
            <p:cNvSpPr/>
            <p:nvPr/>
          </p:nvSpPr>
          <p:spPr>
            <a:xfrm>
              <a:off x="0" y="0"/>
              <a:ext cx="2952900" cy="20955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9"/>
            <p:cNvSpPr/>
            <p:nvPr/>
          </p:nvSpPr>
          <p:spPr>
            <a:xfrm>
              <a:off x="228600" y="228600"/>
              <a:ext cx="457200" cy="457200"/>
            </a:xfrm>
            <a:prstGeom prst="roundRect">
              <a:avLst>
                <a:gd fmla="val 25000" name="adj"/>
              </a:avLst>
            </a:prstGeom>
            <a:solidFill>
              <a:srgbClr val="FEF3C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9"/>
            <p:cNvSpPr/>
            <p:nvPr/>
          </p:nvSpPr>
          <p:spPr>
            <a:xfrm>
              <a:off x="361950" y="361950"/>
              <a:ext cx="190500" cy="1905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cubicBezTo>
                    <a:pt x="26880" y="0"/>
                    <a:pt x="0" y="26880"/>
                    <a:pt x="0" y="60000"/>
                  </a:cubicBezTo>
                  <a:lnTo>
                    <a:pt x="26880" y="120000"/>
                  </a:lnTo>
                  <a:lnTo>
                    <a:pt x="60000" y="120000"/>
                  </a:lnTo>
                  <a:lnTo>
                    <a:pt x="120000" y="93120"/>
                  </a:lnTo>
                  <a:lnTo>
                    <a:pt x="120000" y="60000"/>
                  </a:lnTo>
                  <a:lnTo>
                    <a:pt x="93120" y="0"/>
                  </a:lnTo>
                  <a:lnTo>
                    <a:pt x="60000" y="0"/>
                  </a:lnTo>
                  <a:close/>
                  <a:moveTo>
                    <a:pt x="66000" y="90000"/>
                  </a:moveTo>
                  <a:lnTo>
                    <a:pt x="54000" y="90000"/>
                  </a:lnTo>
                  <a:lnTo>
                    <a:pt x="54000" y="78000"/>
                  </a:lnTo>
                  <a:lnTo>
                    <a:pt x="66000" y="78000"/>
                  </a:lnTo>
                  <a:lnTo>
                    <a:pt x="66000" y="90000"/>
                  </a:lnTo>
                  <a:close/>
                  <a:moveTo>
                    <a:pt x="66000" y="66000"/>
                  </a:moveTo>
                  <a:lnTo>
                    <a:pt x="54000" y="66000"/>
                  </a:lnTo>
                  <a:lnTo>
                    <a:pt x="54000" y="30000"/>
                  </a:lnTo>
                  <a:lnTo>
                    <a:pt x="66000" y="30000"/>
                  </a:lnTo>
                  <a:lnTo>
                    <a:pt x="66000" y="6600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9"/>
            <p:cNvSpPr txBox="1"/>
            <p:nvPr/>
          </p:nvSpPr>
          <p:spPr>
            <a:xfrm>
              <a:off x="228600" y="838200"/>
              <a:ext cx="24957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E293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Drone &amp; Camera Fusion</a:t>
              </a:r>
              <a:endParaRPr b="1" sz="1600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Monitors wide outdoor grounds using fixed CCTV and aerial drones to track density live.</a:t>
              </a:r>
              <a:endParaRPr b="0" sz="11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201" name="Google Shape;201;p19"/>
          <p:cNvGrpSpPr/>
          <p:nvPr/>
        </p:nvGrpSpPr>
        <p:grpSpPr>
          <a:xfrm>
            <a:off x="3714750" y="4000500"/>
            <a:ext cx="2952900" cy="2095500"/>
            <a:chOff x="0" y="0"/>
            <a:chExt cx="2952900" cy="2095500"/>
          </a:xfrm>
        </p:grpSpPr>
        <p:sp>
          <p:nvSpPr>
            <p:cNvPr id="202" name="Google Shape;202;p19"/>
            <p:cNvSpPr/>
            <p:nvPr/>
          </p:nvSpPr>
          <p:spPr>
            <a:xfrm>
              <a:off x="0" y="0"/>
              <a:ext cx="2952900" cy="20955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9"/>
            <p:cNvSpPr/>
            <p:nvPr/>
          </p:nvSpPr>
          <p:spPr>
            <a:xfrm>
              <a:off x="228600" y="228600"/>
              <a:ext cx="457200" cy="457200"/>
            </a:xfrm>
            <a:prstGeom prst="roundRect">
              <a:avLst>
                <a:gd fmla="val 25000" name="adj"/>
              </a:avLst>
            </a:prstGeom>
            <a:solidFill>
              <a:srgbClr val="F3E8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9"/>
            <p:cNvSpPr/>
            <p:nvPr/>
          </p:nvSpPr>
          <p:spPr>
            <a:xfrm>
              <a:off x="371475" y="371475"/>
              <a:ext cx="171600" cy="171600"/>
            </a:xfrm>
            <a:custGeom>
              <a:rect b="b" l="l" r="r" t="t"/>
              <a:pathLst>
                <a:path extrusionOk="0" h="120000" w="120000">
                  <a:moveTo>
                    <a:pt x="106667" y="0"/>
                  </a:moveTo>
                  <a:lnTo>
                    <a:pt x="13333" y="0"/>
                  </a:lnTo>
                  <a:cubicBezTo>
                    <a:pt x="6000" y="0"/>
                    <a:pt x="0" y="6000"/>
                    <a:pt x="0" y="13333"/>
                  </a:cubicBezTo>
                  <a:lnTo>
                    <a:pt x="0" y="106667"/>
                  </a:lnTo>
                  <a:cubicBezTo>
                    <a:pt x="0" y="114000"/>
                    <a:pt x="6000" y="120000"/>
                    <a:pt x="13333" y="120000"/>
                  </a:cubicBezTo>
                  <a:lnTo>
                    <a:pt x="106667" y="120000"/>
                  </a:lnTo>
                  <a:cubicBezTo>
                    <a:pt x="114000" y="120000"/>
                    <a:pt x="120000" y="114000"/>
                    <a:pt x="120000" y="106667"/>
                  </a:cubicBezTo>
                  <a:lnTo>
                    <a:pt x="120000" y="13333"/>
                  </a:lnTo>
                  <a:cubicBezTo>
                    <a:pt x="120000" y="6000"/>
                    <a:pt x="114000" y="0"/>
                    <a:pt x="106667" y="0"/>
                  </a:cubicBezTo>
                  <a:close/>
                  <a:moveTo>
                    <a:pt x="93333" y="66667"/>
                  </a:moveTo>
                  <a:lnTo>
                    <a:pt x="66667" y="66667"/>
                  </a:lnTo>
                  <a:lnTo>
                    <a:pt x="66667" y="93333"/>
                  </a:lnTo>
                  <a:lnTo>
                    <a:pt x="53333" y="93333"/>
                  </a:lnTo>
                  <a:lnTo>
                    <a:pt x="53333" y="66667"/>
                  </a:lnTo>
                  <a:lnTo>
                    <a:pt x="26667" y="66667"/>
                  </a:lnTo>
                  <a:lnTo>
                    <a:pt x="26667" y="53333"/>
                  </a:lnTo>
                  <a:lnTo>
                    <a:pt x="53333" y="53333"/>
                  </a:lnTo>
                  <a:lnTo>
                    <a:pt x="53333" y="26667"/>
                  </a:lnTo>
                  <a:lnTo>
                    <a:pt x="66667" y="26667"/>
                  </a:lnTo>
                  <a:lnTo>
                    <a:pt x="66667" y="53333"/>
                  </a:lnTo>
                  <a:lnTo>
                    <a:pt x="93333" y="53333"/>
                  </a:lnTo>
                  <a:lnTo>
                    <a:pt x="93333" y="66667"/>
                  </a:lnTo>
                  <a:close/>
                </a:path>
              </a:pathLst>
            </a:custGeom>
            <a:solidFill>
              <a:srgbClr val="9333E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9"/>
            <p:cNvSpPr txBox="1"/>
            <p:nvPr/>
          </p:nvSpPr>
          <p:spPr>
            <a:xfrm>
              <a:off x="228600" y="838200"/>
              <a:ext cx="24957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E293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Heatmaps &amp; Alerts</a:t>
              </a:r>
              <a:endParaRPr b="1" sz="1600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Generates dynamic crowd heat maps and automatically dispatches alerts when safety risks arise.</a:t>
              </a:r>
              <a:endParaRPr b="0" sz="11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pic>
        <p:nvPicPr>
          <p:cNvPr descr="A high-tech command center monitor displaying real-time security dashboard with crowd heatmaps, AI analytics graphs, and aerial drone feeds of a event venue, clean modern interface, high detail, photo realistic." id="206" name="Google Shape;20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48500" y="381000"/>
            <a:ext cx="4572000" cy="6096000"/>
          </a:xfrm>
          <a:prstGeom prst="roundRect">
            <a:avLst>
              <a:gd fmla="val 4166" name="adj"/>
            </a:avLst>
          </a:prstGeom>
          <a:noFill/>
          <a:ln>
            <a:noFill/>
          </a:ln>
        </p:spPr>
      </p:pic>
      <p:sp>
        <p:nvSpPr>
          <p:cNvPr id="207" name="Google Shape;207;p19"/>
          <p:cNvSpPr/>
          <p:nvPr/>
        </p:nvSpPr>
        <p:spPr>
          <a:xfrm>
            <a:off x="7048500" y="381000"/>
            <a:ext cx="4572000" cy="6096000"/>
          </a:xfrm>
          <a:prstGeom prst="roundRect">
            <a:avLst>
              <a:gd fmla="val 4166" name="adj"/>
            </a:avLst>
          </a:prstGeom>
          <a:solidFill>
            <a:srgbClr val="000000">
              <a:alpha val="0"/>
            </a:srgbClr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"/>
          <p:cNvSpPr/>
          <p:nvPr/>
        </p:nvSpPr>
        <p:spPr>
          <a:xfrm>
            <a:off x="609600" y="2247900"/>
            <a:ext cx="2571750" cy="3848100"/>
          </a:xfrm>
          <a:prstGeom prst="roundRect">
            <a:avLst>
              <a:gd fmla="val 592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3409950" y="2247900"/>
            <a:ext cx="2571750" cy="3848100"/>
          </a:xfrm>
          <a:prstGeom prst="roundRect">
            <a:avLst>
              <a:gd fmla="val 592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6210300" y="2247900"/>
            <a:ext cx="2571750" cy="3848100"/>
          </a:xfrm>
          <a:prstGeom prst="roundRect">
            <a:avLst>
              <a:gd fmla="val 592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9010650" y="2247900"/>
            <a:ext cx="2571750" cy="3848100"/>
          </a:xfrm>
          <a:prstGeom prst="roundRect">
            <a:avLst>
              <a:gd fmla="val 592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609600" y="2247900"/>
            <a:ext cx="2571750" cy="76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3409950" y="2247900"/>
            <a:ext cx="2571750" cy="762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6210300" y="2247900"/>
            <a:ext cx="2571750" cy="76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9010650" y="2247900"/>
            <a:ext cx="2571750" cy="76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-381000" y="762000"/>
            <a:ext cx="129540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Real-Time Heat Map Risk Zones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2524125" y="1400175"/>
            <a:ext cx="71437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Visualizing crowd pressure before it becomes a hazard.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1405413" y="3686175"/>
            <a:ext cx="98012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Low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1151334" y="4219575"/>
            <a:ext cx="148828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Normal Level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931068" y="4533900"/>
            <a:ext cx="192881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Safe continuous flow.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3895725" y="3686175"/>
            <a:ext cx="1600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Medium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3951684" y="4219575"/>
            <a:ext cx="148828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Monitor Area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3529012" y="4533900"/>
            <a:ext cx="2333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Density slowly increasing.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6991111" y="3586162"/>
            <a:ext cx="101012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A580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High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6567487" y="4119562"/>
            <a:ext cx="18573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Precaution Alert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6269831" y="4433887"/>
            <a:ext cx="24526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Congestion forming at gates.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9581435" y="3467100"/>
            <a:ext cx="143017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43F5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Critical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9070181" y="4000500"/>
            <a:ext cx="245268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Emergency Response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9070181" y="4552950"/>
            <a:ext cx="24526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Immediate management required.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1"/>
          <p:cNvSpPr/>
          <p:nvPr/>
        </p:nvSpPr>
        <p:spPr>
          <a:xfrm>
            <a:off x="1333500" y="2605087"/>
            <a:ext cx="4610100" cy="1219200"/>
          </a:xfrm>
          <a:prstGeom prst="roundRect">
            <a:avLst>
              <a:gd fmla="val 1250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6248400" y="2605087"/>
            <a:ext cx="4610100" cy="1219200"/>
          </a:xfrm>
          <a:prstGeom prst="roundRect">
            <a:avLst>
              <a:gd fmla="val 1250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1333500" y="4129087"/>
            <a:ext cx="4610100" cy="1219200"/>
          </a:xfrm>
          <a:prstGeom prst="roundRect">
            <a:avLst>
              <a:gd fmla="val 1250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6248400" y="4129087"/>
            <a:ext cx="4610100" cy="1219200"/>
          </a:xfrm>
          <a:prstGeom prst="roundRect">
            <a:avLst>
              <a:gd fmla="val 1250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2" name="Google Shape;24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8300" y="2909887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53200" y="2909887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38300" y="4433887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53200" y="4433887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76412" y="3081337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05600" y="3081337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809750" y="4605337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705600" y="4605337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1"/>
          <p:cNvSpPr txBox="1"/>
          <p:nvPr/>
        </p:nvSpPr>
        <p:spPr>
          <a:xfrm>
            <a:off x="-381000" y="1509712"/>
            <a:ext cx="129540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Automated Notification Protocols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2476500" y="2933700"/>
            <a:ext cx="3025378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Crowd Alerts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2476500" y="3276600"/>
            <a:ext cx="288131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Route congestion detected.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7391400" y="2933700"/>
            <a:ext cx="2750343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Security Alerts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7391400" y="3276600"/>
            <a:ext cx="26193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Failed identity verification.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2476500" y="4457700"/>
            <a:ext cx="326290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Emergency Alerts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2476500" y="4800600"/>
            <a:ext cx="310753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Potential stampede indicators.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7391400" y="4457700"/>
            <a:ext cx="3100387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Missing Person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7391400" y="4800600"/>
            <a:ext cx="29527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AI-assisted location tracking.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3" name="Google Shape;26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388798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431661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474523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5173860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2"/>
          <p:cNvSpPr txBox="1"/>
          <p:nvPr/>
        </p:nvSpPr>
        <p:spPr>
          <a:xfrm>
            <a:off x="609600" y="1474589"/>
            <a:ext cx="5220652" cy="1051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AI-Assisted Missing Person Detection</a:t>
            </a:r>
            <a:endParaRPr/>
          </a:p>
        </p:txBody>
      </p:sp>
      <p:sp>
        <p:nvSpPr>
          <p:cNvPr id="269" name="Google Shape;269;p22"/>
          <p:cNvSpPr txBox="1"/>
          <p:nvPr/>
        </p:nvSpPr>
        <p:spPr>
          <a:xfrm>
            <a:off x="609600" y="2830710"/>
            <a:ext cx="4381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Locate lost children or vulnerable visitors rapidly using cross-camera AI matching.</a:t>
            </a:r>
            <a:endParaRPr/>
          </a:p>
        </p:txBody>
      </p:sp>
      <p:sp>
        <p:nvSpPr>
          <p:cNvPr id="270" name="Google Shape;270;p22"/>
          <p:cNvSpPr txBox="1"/>
          <p:nvPr/>
        </p:nvSpPr>
        <p:spPr>
          <a:xfrm>
            <a:off x="914400" y="3859410"/>
            <a:ext cx="350043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Missing Person Report logged.</a:t>
            </a:r>
            <a:endParaRPr/>
          </a:p>
        </p:txBody>
      </p:sp>
      <p:sp>
        <p:nvSpPr>
          <p:cNvPr id="271" name="Google Shape;271;p22"/>
          <p:cNvSpPr txBox="1"/>
          <p:nvPr/>
        </p:nvSpPr>
        <p:spPr>
          <a:xfrm>
            <a:off x="914400" y="4288035"/>
            <a:ext cx="297656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scans all camera feeds.</a:t>
            </a:r>
            <a:endParaRPr/>
          </a:p>
        </p:txBody>
      </p:sp>
      <p:sp>
        <p:nvSpPr>
          <p:cNvPr id="272" name="Google Shape;272;p22"/>
          <p:cNvSpPr txBox="1"/>
          <p:nvPr/>
        </p:nvSpPr>
        <p:spPr>
          <a:xfrm>
            <a:off x="914400" y="4716660"/>
            <a:ext cx="372665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 flags potential matches.</a:t>
            </a:r>
            <a:endParaRPr/>
          </a:p>
        </p:txBody>
      </p:sp>
      <p:sp>
        <p:nvSpPr>
          <p:cNvPr id="273" name="Google Shape;273;p22"/>
          <p:cNvSpPr txBox="1"/>
          <p:nvPr/>
        </p:nvSpPr>
        <p:spPr>
          <a:xfrm>
            <a:off x="914400" y="5145285"/>
            <a:ext cx="392906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Security team verifies &amp; responds.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3"/>
          <p:cNvSpPr/>
          <p:nvPr/>
        </p:nvSpPr>
        <p:spPr>
          <a:xfrm>
            <a:off x="609600" y="1857375"/>
            <a:ext cx="5257800" cy="4238625"/>
          </a:xfrm>
          <a:prstGeom prst="roundRect">
            <a:avLst>
              <a:gd fmla="val 3595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6324600" y="1857375"/>
            <a:ext cx="5257800" cy="4238625"/>
          </a:xfrm>
          <a:prstGeom prst="roundRect">
            <a:avLst>
              <a:gd fmla="val 3595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1066800" y="2952750"/>
            <a:ext cx="43434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3"/>
          <p:cNvSpPr/>
          <p:nvPr/>
        </p:nvSpPr>
        <p:spPr>
          <a:xfrm>
            <a:off x="1066800" y="3543300"/>
            <a:ext cx="43434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3"/>
          <p:cNvSpPr/>
          <p:nvPr/>
        </p:nvSpPr>
        <p:spPr>
          <a:xfrm>
            <a:off x="1066800" y="4133850"/>
            <a:ext cx="43434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3"/>
          <p:cNvSpPr/>
          <p:nvPr/>
        </p:nvSpPr>
        <p:spPr>
          <a:xfrm>
            <a:off x="6781800" y="2952750"/>
            <a:ext cx="43434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3"/>
          <p:cNvSpPr/>
          <p:nvPr/>
        </p:nvSpPr>
        <p:spPr>
          <a:xfrm>
            <a:off x="6781800" y="3543300"/>
            <a:ext cx="43434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3"/>
          <p:cNvSpPr/>
          <p:nvPr/>
        </p:nvSpPr>
        <p:spPr>
          <a:xfrm>
            <a:off x="6781800" y="4133850"/>
            <a:ext cx="43434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3"/>
          <p:cNvSpPr/>
          <p:nvPr/>
        </p:nvSpPr>
        <p:spPr>
          <a:xfrm>
            <a:off x="1066800" y="3305175"/>
            <a:ext cx="4343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3"/>
          <p:cNvSpPr/>
          <p:nvPr/>
        </p:nvSpPr>
        <p:spPr>
          <a:xfrm>
            <a:off x="1066800" y="3305175"/>
            <a:ext cx="4343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3"/>
          <p:cNvSpPr/>
          <p:nvPr/>
        </p:nvSpPr>
        <p:spPr>
          <a:xfrm>
            <a:off x="1066800" y="3895725"/>
            <a:ext cx="4343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3"/>
          <p:cNvSpPr/>
          <p:nvPr/>
        </p:nvSpPr>
        <p:spPr>
          <a:xfrm>
            <a:off x="1066800" y="3895725"/>
            <a:ext cx="4343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3"/>
          <p:cNvSpPr/>
          <p:nvPr/>
        </p:nvSpPr>
        <p:spPr>
          <a:xfrm>
            <a:off x="1066800" y="4486275"/>
            <a:ext cx="4343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3"/>
          <p:cNvSpPr/>
          <p:nvPr/>
        </p:nvSpPr>
        <p:spPr>
          <a:xfrm>
            <a:off x="1066800" y="4486275"/>
            <a:ext cx="4343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3"/>
          <p:cNvSpPr/>
          <p:nvPr/>
        </p:nvSpPr>
        <p:spPr>
          <a:xfrm>
            <a:off x="6781800" y="3305175"/>
            <a:ext cx="43434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3"/>
          <p:cNvSpPr/>
          <p:nvPr/>
        </p:nvSpPr>
        <p:spPr>
          <a:xfrm>
            <a:off x="6781800" y="3305175"/>
            <a:ext cx="43434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3"/>
          <p:cNvSpPr/>
          <p:nvPr/>
        </p:nvSpPr>
        <p:spPr>
          <a:xfrm>
            <a:off x="6781800" y="3895725"/>
            <a:ext cx="43434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3"/>
          <p:cNvSpPr/>
          <p:nvPr/>
        </p:nvSpPr>
        <p:spPr>
          <a:xfrm>
            <a:off x="6781800" y="3895725"/>
            <a:ext cx="43434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3"/>
          <p:cNvSpPr/>
          <p:nvPr/>
        </p:nvSpPr>
        <p:spPr>
          <a:xfrm>
            <a:off x="6781800" y="4486275"/>
            <a:ext cx="43434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3"/>
          <p:cNvSpPr/>
          <p:nvPr/>
        </p:nvSpPr>
        <p:spPr>
          <a:xfrm>
            <a:off x="6781800" y="4486275"/>
            <a:ext cx="43434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8" name="Google Shape;29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2328862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81800" y="232886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3"/>
          <p:cNvSpPr txBox="1"/>
          <p:nvPr/>
        </p:nvSpPr>
        <p:spPr>
          <a:xfrm>
            <a:off x="-381000" y="762000"/>
            <a:ext cx="129540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Centralized Control Panel</a:t>
            </a:r>
            <a:endParaRPr/>
          </a:p>
        </p:txBody>
      </p:sp>
      <p:sp>
        <p:nvSpPr>
          <p:cNvPr id="301" name="Google Shape;301;p23"/>
          <p:cNvSpPr txBox="1"/>
          <p:nvPr/>
        </p:nvSpPr>
        <p:spPr>
          <a:xfrm>
            <a:off x="1447800" y="2314575"/>
            <a:ext cx="253781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Administration</a:t>
            </a:r>
            <a:endParaRPr/>
          </a:p>
        </p:txBody>
      </p:sp>
      <p:sp>
        <p:nvSpPr>
          <p:cNvPr id="302" name="Google Shape;302;p23"/>
          <p:cNvSpPr txBox="1"/>
          <p:nvPr/>
        </p:nvSpPr>
        <p:spPr>
          <a:xfrm>
            <a:off x="7239000" y="2314575"/>
            <a:ext cx="346293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Security Operations</a:t>
            </a:r>
            <a:endParaRPr/>
          </a:p>
        </p:txBody>
      </p:sp>
      <p:sp>
        <p:nvSpPr>
          <p:cNvPr id="303" name="Google Shape;303;p23"/>
          <p:cNvSpPr txBox="1"/>
          <p:nvPr/>
        </p:nvSpPr>
        <p:spPr>
          <a:xfrm>
            <a:off x="1066800" y="2952750"/>
            <a:ext cx="202406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Live Registrations</a:t>
            </a:r>
            <a:endParaRPr/>
          </a:p>
        </p:txBody>
      </p:sp>
      <p:sp>
        <p:nvSpPr>
          <p:cNvPr id="304" name="Google Shape;304;p23"/>
          <p:cNvSpPr txBox="1"/>
          <p:nvPr/>
        </p:nvSpPr>
        <p:spPr>
          <a:xfrm>
            <a:off x="4829175" y="2952750"/>
            <a:ext cx="8667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3,000</a:t>
            </a:r>
            <a:endParaRPr/>
          </a:p>
        </p:txBody>
      </p:sp>
      <p:sp>
        <p:nvSpPr>
          <p:cNvPr id="305" name="Google Shape;305;p23"/>
          <p:cNvSpPr txBox="1"/>
          <p:nvPr/>
        </p:nvSpPr>
        <p:spPr>
          <a:xfrm>
            <a:off x="1066800" y="3543300"/>
            <a:ext cx="170259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Student Count</a:t>
            </a:r>
            <a:endParaRPr/>
          </a:p>
        </p:txBody>
      </p:sp>
      <p:sp>
        <p:nvSpPr>
          <p:cNvPr id="306" name="Google Shape;306;p23"/>
          <p:cNvSpPr txBox="1"/>
          <p:nvPr/>
        </p:nvSpPr>
        <p:spPr>
          <a:xfrm>
            <a:off x="4857750" y="3543300"/>
            <a:ext cx="8382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2,450</a:t>
            </a:r>
            <a:endParaRPr/>
          </a:p>
        </p:txBody>
      </p:sp>
      <p:sp>
        <p:nvSpPr>
          <p:cNvPr id="307" name="Google Shape;307;p23"/>
          <p:cNvSpPr txBox="1"/>
          <p:nvPr/>
        </p:nvSpPr>
        <p:spPr>
          <a:xfrm>
            <a:off x="1066800" y="4133850"/>
            <a:ext cx="15240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Guest Passes</a:t>
            </a:r>
            <a:endParaRPr/>
          </a:p>
        </p:txBody>
      </p:sp>
      <p:sp>
        <p:nvSpPr>
          <p:cNvPr id="308" name="Google Shape;308;p23"/>
          <p:cNvSpPr txBox="1"/>
          <p:nvPr/>
        </p:nvSpPr>
        <p:spPr>
          <a:xfrm>
            <a:off x="5057775" y="4133850"/>
            <a:ext cx="6381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370</a:t>
            </a:r>
            <a:endParaRPr/>
          </a:p>
        </p:txBody>
      </p:sp>
      <p:sp>
        <p:nvSpPr>
          <p:cNvPr id="309" name="Google Shape;309;p23"/>
          <p:cNvSpPr txBox="1"/>
          <p:nvPr/>
        </p:nvSpPr>
        <p:spPr>
          <a:xfrm>
            <a:off x="6781800" y="2952750"/>
            <a:ext cx="202406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Density Heat Map</a:t>
            </a:r>
            <a:endParaRPr/>
          </a:p>
        </p:txBody>
      </p:sp>
      <p:sp>
        <p:nvSpPr>
          <p:cNvPr id="310" name="Google Shape;310;p23"/>
          <p:cNvSpPr txBox="1"/>
          <p:nvPr/>
        </p:nvSpPr>
        <p:spPr>
          <a:xfrm>
            <a:off x="10753725" y="2952750"/>
            <a:ext cx="6572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Live</a:t>
            </a:r>
            <a:endParaRPr/>
          </a:p>
        </p:txBody>
      </p:sp>
      <p:sp>
        <p:nvSpPr>
          <p:cNvPr id="311" name="Google Shape;311;p23"/>
          <p:cNvSpPr txBox="1"/>
          <p:nvPr/>
        </p:nvSpPr>
        <p:spPr>
          <a:xfrm>
            <a:off x="6781800" y="3543300"/>
            <a:ext cx="2381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CCTV + Drone Feeds</a:t>
            </a:r>
            <a:endParaRPr/>
          </a:p>
        </p:txBody>
      </p:sp>
      <p:sp>
        <p:nvSpPr>
          <p:cNvPr id="312" name="Google Shape;312;p23"/>
          <p:cNvSpPr txBox="1"/>
          <p:nvPr/>
        </p:nvSpPr>
        <p:spPr>
          <a:xfrm>
            <a:off x="10534650" y="3543300"/>
            <a:ext cx="8763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Active</a:t>
            </a:r>
            <a:endParaRPr/>
          </a:p>
        </p:txBody>
      </p:sp>
      <p:sp>
        <p:nvSpPr>
          <p:cNvPr id="313" name="Google Shape;313;p23"/>
          <p:cNvSpPr txBox="1"/>
          <p:nvPr/>
        </p:nvSpPr>
        <p:spPr>
          <a:xfrm>
            <a:off x="6781800" y="4133850"/>
            <a:ext cx="12287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Risk Alerts</a:t>
            </a:r>
            <a:endParaRPr/>
          </a:p>
        </p:txBody>
      </p:sp>
      <p:sp>
        <p:nvSpPr>
          <p:cNvPr id="314" name="Google Shape;314;p23"/>
          <p:cNvSpPr txBox="1"/>
          <p:nvPr/>
        </p:nvSpPr>
        <p:spPr>
          <a:xfrm>
            <a:off x="10715625" y="4133850"/>
            <a:ext cx="6953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43F5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Zero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9" name="Google Shape;31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2672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4"/>
          <p:cNvSpPr txBox="1"/>
          <p:nvPr/>
        </p:nvSpPr>
        <p:spPr>
          <a:xfrm>
            <a:off x="4876800" y="2052637"/>
            <a:ext cx="73152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 Architecture</a:t>
            </a:r>
            <a:endParaRPr/>
          </a:p>
        </p:txBody>
      </p:sp>
      <p:sp>
        <p:nvSpPr>
          <p:cNvPr id="321" name="Google Shape;321;p24"/>
          <p:cNvSpPr txBox="1"/>
          <p:nvPr/>
        </p:nvSpPr>
        <p:spPr>
          <a:xfrm>
            <a:off x="4876800" y="2995612"/>
            <a:ext cx="4000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B82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FRONTEND UI</a:t>
            </a:r>
            <a:endParaRPr/>
          </a:p>
        </p:txBody>
      </p:sp>
      <p:sp>
        <p:nvSpPr>
          <p:cNvPr id="322" name="Google Shape;322;p24"/>
          <p:cNvSpPr txBox="1"/>
          <p:nvPr/>
        </p:nvSpPr>
        <p:spPr>
          <a:xfrm>
            <a:off x="4876800" y="3243262"/>
            <a:ext cx="4000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HTML, CSS, JS</a:t>
            </a:r>
            <a:endParaRPr/>
          </a:p>
        </p:txBody>
      </p:sp>
      <p:sp>
        <p:nvSpPr>
          <p:cNvPr id="323" name="Google Shape;323;p24"/>
          <p:cNvSpPr txBox="1"/>
          <p:nvPr/>
        </p:nvSpPr>
        <p:spPr>
          <a:xfrm>
            <a:off x="4876800" y="3548062"/>
            <a:ext cx="4000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Responsive dashboarding.</a:t>
            </a:r>
            <a:endParaRPr/>
          </a:p>
        </p:txBody>
      </p:sp>
      <p:sp>
        <p:nvSpPr>
          <p:cNvPr id="324" name="Google Shape;324;p24"/>
          <p:cNvSpPr txBox="1"/>
          <p:nvPr/>
        </p:nvSpPr>
        <p:spPr>
          <a:xfrm>
            <a:off x="8382000" y="2995612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B82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BACKEND SERVER</a:t>
            </a:r>
            <a:endParaRPr/>
          </a:p>
        </p:txBody>
      </p:sp>
      <p:sp>
        <p:nvSpPr>
          <p:cNvPr id="325" name="Google Shape;325;p24"/>
          <p:cNvSpPr txBox="1"/>
          <p:nvPr/>
        </p:nvSpPr>
        <p:spPr>
          <a:xfrm>
            <a:off x="8382000" y="3243262"/>
            <a:ext cx="3810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Python / Flask</a:t>
            </a:r>
            <a:endParaRPr/>
          </a:p>
        </p:txBody>
      </p:sp>
      <p:sp>
        <p:nvSpPr>
          <p:cNvPr id="326" name="Google Shape;326;p24"/>
          <p:cNvSpPr txBox="1"/>
          <p:nvPr/>
        </p:nvSpPr>
        <p:spPr>
          <a:xfrm>
            <a:off x="8382000" y="3548062"/>
            <a:ext cx="3810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Secure API routing.</a:t>
            </a:r>
            <a:endParaRPr/>
          </a:p>
        </p:txBody>
      </p:sp>
      <p:sp>
        <p:nvSpPr>
          <p:cNvPr id="327" name="Google Shape;327;p24"/>
          <p:cNvSpPr txBox="1"/>
          <p:nvPr/>
        </p:nvSpPr>
        <p:spPr>
          <a:xfrm>
            <a:off x="4876800" y="4052887"/>
            <a:ext cx="4000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B82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COMPUTER VISION</a:t>
            </a:r>
            <a:endParaRPr/>
          </a:p>
        </p:txBody>
      </p:sp>
      <p:sp>
        <p:nvSpPr>
          <p:cNvPr id="328" name="Google Shape;328;p24"/>
          <p:cNvSpPr txBox="1"/>
          <p:nvPr/>
        </p:nvSpPr>
        <p:spPr>
          <a:xfrm>
            <a:off x="4876800" y="4300537"/>
            <a:ext cx="4000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OpenCV + YOLO</a:t>
            </a:r>
            <a:endParaRPr/>
          </a:p>
        </p:txBody>
      </p:sp>
      <p:sp>
        <p:nvSpPr>
          <p:cNvPr id="329" name="Google Shape;329;p24"/>
          <p:cNvSpPr txBox="1"/>
          <p:nvPr/>
        </p:nvSpPr>
        <p:spPr>
          <a:xfrm>
            <a:off x="4876800" y="4605337"/>
            <a:ext cx="4000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Density analysis modeling.</a:t>
            </a:r>
            <a:endParaRPr/>
          </a:p>
        </p:txBody>
      </p:sp>
      <p:sp>
        <p:nvSpPr>
          <p:cNvPr id="330" name="Google Shape;330;p24"/>
          <p:cNvSpPr txBox="1"/>
          <p:nvPr/>
        </p:nvSpPr>
        <p:spPr>
          <a:xfrm>
            <a:off x="8382000" y="4052887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B82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LAYER</a:t>
            </a:r>
            <a:endParaRPr/>
          </a:p>
        </p:txBody>
      </p:sp>
      <p:sp>
        <p:nvSpPr>
          <p:cNvPr id="331" name="Google Shape;331;p24"/>
          <p:cNvSpPr txBox="1"/>
          <p:nvPr/>
        </p:nvSpPr>
        <p:spPr>
          <a:xfrm>
            <a:off x="8382000" y="4300537"/>
            <a:ext cx="3810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PostgreSQL / Firebase</a:t>
            </a:r>
            <a:endParaRPr/>
          </a:p>
        </p:txBody>
      </p:sp>
      <p:sp>
        <p:nvSpPr>
          <p:cNvPr id="332" name="Google Shape;332;p24"/>
          <p:cNvSpPr txBox="1"/>
          <p:nvPr/>
        </p:nvSpPr>
        <p:spPr>
          <a:xfrm>
            <a:off x="8382000" y="4605337"/>
            <a:ext cx="3810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Live metric sync.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7" name="Google Shape;33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6100" y="3786187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8" name="Google Shape;33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81650" y="3786187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9" name="Google Shape;33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63050" y="3786187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5"/>
          <p:cNvSpPr txBox="1"/>
          <p:nvPr/>
        </p:nvSpPr>
        <p:spPr>
          <a:xfrm>
            <a:off x="2439292" y="2400300"/>
            <a:ext cx="7313414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Single Intelligent Ecosystem</a:t>
            </a:r>
            <a:endParaRPr/>
          </a:p>
        </p:txBody>
      </p:sp>
      <p:sp>
        <p:nvSpPr>
          <p:cNvPr id="341" name="Google Shape;341;p25"/>
          <p:cNvSpPr txBox="1"/>
          <p:nvPr/>
        </p:nvSpPr>
        <p:spPr>
          <a:xfrm>
            <a:off x="47625" y="3495675"/>
            <a:ext cx="2952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3B82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Identity</a:t>
            </a:r>
            <a:endParaRPr/>
          </a:p>
        </p:txBody>
      </p:sp>
      <p:sp>
        <p:nvSpPr>
          <p:cNvPr id="342" name="Google Shape;342;p25"/>
          <p:cNvSpPr txBox="1"/>
          <p:nvPr/>
        </p:nvSpPr>
        <p:spPr>
          <a:xfrm>
            <a:off x="47625" y="4219575"/>
            <a:ext cx="29527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Verified</a:t>
            </a:r>
            <a:endParaRPr/>
          </a:p>
        </p:txBody>
      </p:sp>
      <p:sp>
        <p:nvSpPr>
          <p:cNvPr id="343" name="Google Shape;343;p25"/>
          <p:cNvSpPr txBox="1"/>
          <p:nvPr/>
        </p:nvSpPr>
        <p:spPr>
          <a:xfrm>
            <a:off x="3625453" y="3495675"/>
            <a:ext cx="1750218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3B82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</a:t>
            </a:r>
            <a:endParaRPr/>
          </a:p>
        </p:txBody>
      </p:sp>
      <p:sp>
        <p:nvSpPr>
          <p:cNvPr id="344" name="Google Shape;344;p25"/>
          <p:cNvSpPr txBox="1"/>
          <p:nvPr/>
        </p:nvSpPr>
        <p:spPr>
          <a:xfrm>
            <a:off x="3625453" y="4219575"/>
            <a:ext cx="175021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Real-Time</a:t>
            </a:r>
            <a:endParaRPr/>
          </a:p>
        </p:txBody>
      </p:sp>
      <p:sp>
        <p:nvSpPr>
          <p:cNvPr id="345" name="Google Shape;345;p25"/>
          <p:cNvSpPr txBox="1"/>
          <p:nvPr/>
        </p:nvSpPr>
        <p:spPr>
          <a:xfrm>
            <a:off x="5985271" y="3495675"/>
            <a:ext cx="3107531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3B82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Analysis</a:t>
            </a:r>
            <a:endParaRPr/>
          </a:p>
        </p:txBody>
      </p:sp>
      <p:sp>
        <p:nvSpPr>
          <p:cNvPr id="346" name="Google Shape;346;p25"/>
          <p:cNvSpPr txBox="1"/>
          <p:nvPr/>
        </p:nvSpPr>
        <p:spPr>
          <a:xfrm>
            <a:off x="5985271" y="4219575"/>
            <a:ext cx="310753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Predictive</a:t>
            </a:r>
            <a:endParaRPr/>
          </a:p>
        </p:txBody>
      </p:sp>
      <p:sp>
        <p:nvSpPr>
          <p:cNvPr id="347" name="Google Shape;347;p25"/>
          <p:cNvSpPr txBox="1"/>
          <p:nvPr/>
        </p:nvSpPr>
        <p:spPr>
          <a:xfrm>
            <a:off x="9630965" y="3495675"/>
            <a:ext cx="2464593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Safety</a:t>
            </a:r>
            <a:endParaRPr/>
          </a:p>
        </p:txBody>
      </p:sp>
      <p:sp>
        <p:nvSpPr>
          <p:cNvPr id="348" name="Google Shape;348;p25"/>
          <p:cNvSpPr txBox="1"/>
          <p:nvPr/>
        </p:nvSpPr>
        <p:spPr>
          <a:xfrm>
            <a:off x="9630965" y="4219575"/>
            <a:ext cx="2464593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Proactive Response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8388" y="-1143000"/>
            <a:ext cx="7515300" cy="6805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4" name="Google Shape;354;p26"/>
          <p:cNvGrpSpPr/>
          <p:nvPr/>
        </p:nvGrpSpPr>
        <p:grpSpPr>
          <a:xfrm>
            <a:off x="5619750" y="1524000"/>
            <a:ext cx="952500" cy="952500"/>
            <a:chOff x="0" y="0"/>
            <a:chExt cx="952500" cy="952500"/>
          </a:xfrm>
        </p:grpSpPr>
        <p:pic>
          <p:nvPicPr>
            <p:cNvPr id="355" name="Google Shape;355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0"/>
              <a:ext cx="952500" cy="952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6" name="Google Shape;356;p26"/>
            <p:cNvSpPr/>
            <p:nvPr/>
          </p:nvSpPr>
          <p:spPr>
            <a:xfrm>
              <a:off x="285750" y="285750"/>
              <a:ext cx="381000" cy="4953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  <a:lnTo>
                    <a:pt x="120000" y="27692"/>
                  </a:lnTo>
                  <a:lnTo>
                    <a:pt x="42000" y="27692"/>
                  </a:lnTo>
                  <a:lnTo>
                    <a:pt x="42000" y="46154"/>
                  </a:lnTo>
                  <a:lnTo>
                    <a:pt x="108000" y="46154"/>
                  </a:lnTo>
                  <a:lnTo>
                    <a:pt x="108000" y="73846"/>
                  </a:lnTo>
                  <a:lnTo>
                    <a:pt x="42000" y="73846"/>
                  </a:lnTo>
                  <a:lnTo>
                    <a:pt x="42000" y="92308"/>
                  </a:lnTo>
                  <a:lnTo>
                    <a:pt x="120000" y="92308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7" name="Google Shape;357;p26"/>
          <p:cNvGrpSpPr/>
          <p:nvPr/>
        </p:nvGrpSpPr>
        <p:grpSpPr>
          <a:xfrm>
            <a:off x="5143500" y="2667000"/>
            <a:ext cx="1905000" cy="304800"/>
            <a:chOff x="0" y="0"/>
            <a:chExt cx="1905000" cy="304800"/>
          </a:xfrm>
        </p:grpSpPr>
        <p:sp>
          <p:nvSpPr>
            <p:cNvPr id="358" name="Google Shape;358;p26"/>
            <p:cNvSpPr/>
            <p:nvPr/>
          </p:nvSpPr>
          <p:spPr>
            <a:xfrm>
              <a:off x="0" y="0"/>
              <a:ext cx="1905000" cy="3048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6"/>
            <p:cNvSpPr txBox="1"/>
            <p:nvPr/>
          </p:nvSpPr>
          <p:spPr>
            <a:xfrm>
              <a:off x="0" y="0"/>
              <a:ext cx="1905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3B82F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EVENTO PLATFORM</a:t>
              </a:r>
              <a:endParaRPr b="1" sz="1000">
                <a:solidFill>
                  <a:srgbClr val="3B82F6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sp>
        <p:nvSpPr>
          <p:cNvPr id="360" name="Google Shape;360;p26"/>
          <p:cNvSpPr txBox="1"/>
          <p:nvPr/>
        </p:nvSpPr>
        <p:spPr>
          <a:xfrm>
            <a:off x="1333500" y="3143250"/>
            <a:ext cx="95250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660">
                <a:solidFill>
                  <a:srgbClr val="F1F5F9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evento</a:t>
            </a:r>
            <a:endParaRPr b="0" sz="6660">
              <a:solidFill>
                <a:srgbClr val="F1F5F9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361" name="Google Shape;361;p26"/>
          <p:cNvSpPr txBox="1"/>
          <p:nvPr/>
        </p:nvSpPr>
        <p:spPr>
          <a:xfrm>
            <a:off x="1333500" y="428625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94A3B8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Smart Attendance. Smarter Crowd Management. Safer Events.</a:t>
            </a:r>
            <a:endParaRPr b="0" sz="2000">
              <a:solidFill>
                <a:srgbClr val="94A3B8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cxnSp>
        <p:nvCxnSpPr>
          <p:cNvPr id="362" name="Google Shape;362;p26"/>
          <p:cNvCxnSpPr/>
          <p:nvPr/>
        </p:nvCxnSpPr>
        <p:spPr>
          <a:xfrm>
            <a:off x="5143500" y="5334000"/>
            <a:ext cx="1905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7"/>
          <p:cNvSpPr/>
          <p:nvPr/>
        </p:nvSpPr>
        <p:spPr>
          <a:xfrm>
            <a:off x="571500" y="85725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7"/>
          <p:cNvSpPr/>
          <p:nvPr/>
        </p:nvSpPr>
        <p:spPr>
          <a:xfrm>
            <a:off x="571500" y="1628775"/>
            <a:ext cx="11049000" cy="847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7"/>
          <p:cNvSpPr/>
          <p:nvPr/>
        </p:nvSpPr>
        <p:spPr>
          <a:xfrm>
            <a:off x="571500" y="247650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7"/>
          <p:cNvSpPr/>
          <p:nvPr/>
        </p:nvSpPr>
        <p:spPr>
          <a:xfrm>
            <a:off x="571500" y="324802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7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7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7"/>
          <p:cNvSpPr/>
          <p:nvPr/>
        </p:nvSpPr>
        <p:spPr>
          <a:xfrm>
            <a:off x="571500" y="24669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7"/>
          <p:cNvSpPr/>
          <p:nvPr/>
        </p:nvSpPr>
        <p:spPr>
          <a:xfrm>
            <a:off x="571500" y="24669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7"/>
          <p:cNvSpPr/>
          <p:nvPr/>
        </p:nvSpPr>
        <p:spPr>
          <a:xfrm>
            <a:off x="571500" y="32385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7"/>
          <p:cNvSpPr/>
          <p:nvPr/>
        </p:nvSpPr>
        <p:spPr>
          <a:xfrm>
            <a:off x="571500" y="32385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7"/>
          <p:cNvSpPr/>
          <p:nvPr/>
        </p:nvSpPr>
        <p:spPr>
          <a:xfrm>
            <a:off x="571500" y="40100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7"/>
          <p:cNvSpPr/>
          <p:nvPr/>
        </p:nvSpPr>
        <p:spPr>
          <a:xfrm>
            <a:off x="571500" y="40100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79" name="Google Shape;37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000125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0" name="Google Shape;38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09750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1" name="Google Shape;381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619375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2" name="Google Shape;382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390900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3" name="Google Shape;383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2005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27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Image Sources</a:t>
            </a:r>
            <a:endParaRPr/>
          </a:p>
        </p:txBody>
      </p:sp>
      <p:sp>
        <p:nvSpPr>
          <p:cNvPr id="385" name="Google Shape;385;p27"/>
          <p:cNvSpPr txBox="1"/>
          <p:nvPr/>
        </p:nvSpPr>
        <p:spPr>
          <a:xfrm>
            <a:off x="1666875" y="1038225"/>
            <a:ext cx="839390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https://southwestmt.com/blog-content/2026/04/Symphony-Under-the-Stars-Helena-MT-copy-1024x576.png</a:t>
            </a:r>
            <a:endParaRPr/>
          </a:p>
        </p:txBody>
      </p:sp>
      <p:sp>
        <p:nvSpPr>
          <p:cNvPr id="386" name="Google Shape;386;p27"/>
          <p:cNvSpPr txBox="1"/>
          <p:nvPr/>
        </p:nvSpPr>
        <p:spPr>
          <a:xfrm>
            <a:off x="1666875" y="1238250"/>
            <a:ext cx="240506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southwestmt.com</a:t>
            </a:r>
            <a:endParaRPr/>
          </a:p>
        </p:txBody>
      </p:sp>
      <p:sp>
        <p:nvSpPr>
          <p:cNvPr id="387" name="Google Shape;387;p27"/>
          <p:cNvSpPr txBox="1"/>
          <p:nvPr/>
        </p:nvSpPr>
        <p:spPr>
          <a:xfrm>
            <a:off x="1666875" y="1771650"/>
            <a:ext cx="10048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https://img.magnific.com/premium-vector/long-queue-people-customers-line-standing-waiting-crowd-queuing-many-men-women-buyers-entrance-back-view-high-demand-concept-flat-vector-illustration-isolated-white-background_198278-19815.jpg</a:t>
            </a:r>
            <a:endParaRPr/>
          </a:p>
        </p:txBody>
      </p:sp>
      <p:sp>
        <p:nvSpPr>
          <p:cNvPr id="388" name="Google Shape;388;p27"/>
          <p:cNvSpPr txBox="1"/>
          <p:nvPr/>
        </p:nvSpPr>
        <p:spPr>
          <a:xfrm>
            <a:off x="1666875" y="2124075"/>
            <a:ext cx="25241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www.magnific.com</a:t>
            </a:r>
            <a:endParaRPr/>
          </a:p>
        </p:txBody>
      </p:sp>
      <p:sp>
        <p:nvSpPr>
          <p:cNvPr id="389" name="Google Shape;389;p27"/>
          <p:cNvSpPr txBox="1"/>
          <p:nvPr/>
        </p:nvSpPr>
        <p:spPr>
          <a:xfrm>
            <a:off x="1666875" y="2657475"/>
            <a:ext cx="708421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https://www.jouav.com/wp-content/uploads/2026/03/cw-15-flying-over-crowd-768x512.jpg</a:t>
            </a:r>
            <a:endParaRPr/>
          </a:p>
        </p:txBody>
      </p:sp>
      <p:sp>
        <p:nvSpPr>
          <p:cNvPr id="390" name="Google Shape;390;p27"/>
          <p:cNvSpPr txBox="1"/>
          <p:nvPr/>
        </p:nvSpPr>
        <p:spPr>
          <a:xfrm>
            <a:off x="1666875" y="2857500"/>
            <a:ext cx="21907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www.jouav.com</a:t>
            </a:r>
            <a:endParaRPr/>
          </a:p>
        </p:txBody>
      </p:sp>
      <p:sp>
        <p:nvSpPr>
          <p:cNvPr id="391" name="Google Shape;391;p27"/>
          <p:cNvSpPr txBox="1"/>
          <p:nvPr/>
        </p:nvSpPr>
        <p:spPr>
          <a:xfrm>
            <a:off x="1666875" y="3429000"/>
            <a:ext cx="727471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https://visionplatform.ai/wp-content/uploads/2026/01/Control-room-with-AI-annotations-1.png</a:t>
            </a:r>
            <a:endParaRPr/>
          </a:p>
        </p:txBody>
      </p:sp>
      <p:sp>
        <p:nvSpPr>
          <p:cNvPr id="392" name="Google Shape;392;p27"/>
          <p:cNvSpPr txBox="1"/>
          <p:nvPr/>
        </p:nvSpPr>
        <p:spPr>
          <a:xfrm>
            <a:off x="1666875" y="3629025"/>
            <a:ext cx="225028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visionplatform.ai</a:t>
            </a:r>
            <a:endParaRPr/>
          </a:p>
        </p:txBody>
      </p:sp>
      <p:sp>
        <p:nvSpPr>
          <p:cNvPr id="393" name="Google Shape;393;p27"/>
          <p:cNvSpPr txBox="1"/>
          <p:nvPr/>
        </p:nvSpPr>
        <p:spPr>
          <a:xfrm>
            <a:off x="1666875" y="4162425"/>
            <a:ext cx="10048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https://elements-resized.envatousercontent.com/elements-video-cover-images/2cfdcd5e-dbc9-48d4-bc44-933279e04280/video_preview/video_preview_0001.jpg?w=500&amp;cf_fit=cover&amp;q=85&amp;format=auto&amp;s=ce87f00d2e78237214ed420065dbed8cb4c189996d50cdb87c945d6135738317</a:t>
            </a:r>
            <a:endParaRPr/>
          </a:p>
        </p:txBody>
      </p:sp>
      <p:sp>
        <p:nvSpPr>
          <p:cNvPr id="394" name="Google Shape;394;p27"/>
          <p:cNvSpPr txBox="1"/>
          <p:nvPr/>
        </p:nvSpPr>
        <p:spPr>
          <a:xfrm>
            <a:off x="1666875" y="4514850"/>
            <a:ext cx="275034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elements.envato.com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